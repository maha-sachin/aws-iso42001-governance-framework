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16561a3a3247e7" /><Relationship Type="http://schemas.openxmlformats.org/officeDocument/2006/relationships/extended-properties" Target="/docProps/app.xml" Id="R046cc30a9ae04d0a" /><Relationship Type="http://schemas.openxmlformats.org/officeDocument/2006/relationships/officeDocument" Target="/ppt/presentation.xml" Id="Rf4b51bb5cdbe4c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2e1e3af3884400"/>
  </p:sldMasterIdLst>
  <p:notesMasterIdLst>
    <p:notesMasterId xmlns:r="http://schemas.openxmlformats.org/officeDocument/2006/relationships" r:id="R502a2c8c99c7461a"/>
  </p:notesMasterIdLst>
  <p:sldIdLst>
    <p:sldId xmlns:r="http://schemas.openxmlformats.org/officeDocument/2006/relationships" id="256" r:id="Ra8a74dbd365a4da4"/>
    <p:sldId xmlns:r="http://schemas.openxmlformats.org/officeDocument/2006/relationships" id="257" r:id="R01fe0a23f7fa48b5"/>
    <p:sldId xmlns:r="http://schemas.openxmlformats.org/officeDocument/2006/relationships" id="258" r:id="R5e1c76a2b0e64272"/>
    <p:sldId xmlns:r="http://schemas.openxmlformats.org/officeDocument/2006/relationships" id="259" r:id="R312bd5b091634cb1"/>
    <p:sldId xmlns:r="http://schemas.openxmlformats.org/officeDocument/2006/relationships" id="260" r:id="R63a0bbc398674623"/>
    <p:sldId xmlns:r="http://schemas.openxmlformats.org/officeDocument/2006/relationships" id="261" r:id="Rce2df031169741bd"/>
    <p:sldId xmlns:r="http://schemas.openxmlformats.org/officeDocument/2006/relationships" id="262" r:id="R614f89b38b1a41d6"/>
    <p:sldId xmlns:r="http://schemas.openxmlformats.org/officeDocument/2006/relationships" id="263" r:id="R1483d8fcfe00439d"/>
    <p:sldId xmlns:r="http://schemas.openxmlformats.org/officeDocument/2006/relationships" id="264" r:id="R29a3c886e04f4f2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7322abb1e447a5" /><Relationship Type="http://schemas.openxmlformats.org/officeDocument/2006/relationships/slideMaster" Target="/ppt/slideMasters/slideMaster1.xml" Id="R292e1e3af3884400" /><Relationship Type="http://schemas.openxmlformats.org/officeDocument/2006/relationships/notesMaster" Target="/ppt/notesMasters/notesMaster1.xml" Id="R502a2c8c99c7461a" /><Relationship Type="http://schemas.openxmlformats.org/officeDocument/2006/relationships/presProps" Target="/ppt/presProps.xml" Id="R05005aef85ae4922" /><Relationship Type="http://schemas.openxmlformats.org/officeDocument/2006/relationships/viewProps" Target="/ppt/viewProps.xml" Id="R105df959f63a4afa" /><Relationship Type="http://schemas.openxmlformats.org/officeDocument/2006/relationships/tableStyles" Target="/ppt/tableStyles.xml" Id="Rd5d5f3745cbd4b19" /><Relationship Type="http://schemas.openxmlformats.org/officeDocument/2006/relationships/slide" Target="/ppt/slides/slide1.xml" Id="Ra8a74dbd365a4da4" /><Relationship Type="http://schemas.openxmlformats.org/officeDocument/2006/relationships/slide" Target="/ppt/slides/slide2.xml" Id="R01fe0a23f7fa48b5" /><Relationship Type="http://schemas.openxmlformats.org/officeDocument/2006/relationships/slide" Target="/ppt/slides/slide3.xml" Id="R5e1c76a2b0e64272" /><Relationship Type="http://schemas.openxmlformats.org/officeDocument/2006/relationships/slide" Target="/ppt/slides/slide4.xml" Id="R312bd5b091634cb1" /><Relationship Type="http://schemas.openxmlformats.org/officeDocument/2006/relationships/slide" Target="/ppt/slides/slide5.xml" Id="R63a0bbc398674623" /><Relationship Type="http://schemas.openxmlformats.org/officeDocument/2006/relationships/slide" Target="/ppt/slides/slide6.xml" Id="Rce2df031169741bd" /><Relationship Type="http://schemas.openxmlformats.org/officeDocument/2006/relationships/slide" Target="/ppt/slides/slide7.xml" Id="R614f89b38b1a41d6" /><Relationship Type="http://schemas.openxmlformats.org/officeDocument/2006/relationships/slide" Target="/ppt/slides/slide8.xml" Id="R1483d8fcfe00439d" /><Relationship Type="http://schemas.openxmlformats.org/officeDocument/2006/relationships/slide" Target="/ppt/slides/slide9.xml" Id="R29a3c886e04f4f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c080e0d82546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58e9b5bbbac4e6c" /><Relationship Type="http://schemas.openxmlformats.org/officeDocument/2006/relationships/notesMaster" Target="/ppt/notesMasters/notesMaster1.xml" Id="R61aeaaa2604649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7ce9dbe80e41b6" /><Relationship Type="http://schemas.openxmlformats.org/officeDocument/2006/relationships/notesMaster" Target="/ppt/notesMasters/notesMaster1.xml" Id="R5bbe34b7b19f43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037092ea2f4ac6" /><Relationship Type="http://schemas.openxmlformats.org/officeDocument/2006/relationships/notesMaster" Target="/ppt/notesMasters/notesMaster1.xml" Id="R7456184bc3cf48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62029b750e4cb2" /><Relationship Type="http://schemas.openxmlformats.org/officeDocument/2006/relationships/notesMaster" Target="/ppt/notesMasters/notesMaster1.xml" Id="R44ec95759cd545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e906cb5b9f4662" /><Relationship Type="http://schemas.openxmlformats.org/officeDocument/2006/relationships/notesMaster" Target="/ppt/notesMasters/notesMaster1.xml" Id="Rac461cf5d15545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2b57f3cc8c4074" /><Relationship Type="http://schemas.openxmlformats.org/officeDocument/2006/relationships/notesMaster" Target="/ppt/notesMasters/notesMaster1.xml" Id="Rcf327a6246c942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782e47206448d7" /><Relationship Type="http://schemas.openxmlformats.org/officeDocument/2006/relationships/notesMaster" Target="/ppt/notesMasters/notesMaster1.xml" Id="R803d902ead2e46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cc5a9f4e044e2c" /><Relationship Type="http://schemas.openxmlformats.org/officeDocument/2006/relationships/notesMaster" Target="/ppt/notesMasters/notesMaster1.xml" Id="R430f0405b6f043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e6b17184534a41" /><Relationship Type="http://schemas.openxmlformats.org/officeDocument/2006/relationships/notesMaster" Target="/ppt/notesMasters/notesMaster1.xml" Id="Ra766a37f67d848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9c61b50a7e4f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59774681904a8a" /><Relationship Type="http://schemas.openxmlformats.org/officeDocument/2006/relationships/slideLayout" Target="/ppt/slideLayouts/slideLayout1.xml" Id="Refc929fa3a4745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c929fa3a4745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b37723d1d4848" /><Relationship Type="http://schemas.openxmlformats.org/officeDocument/2006/relationships/notesSlide" Target="/ppt/notesSlides/notesSlide1.xml" Id="R1a24ccfc9a374f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a6aaba7ce422f" /><Relationship Type="http://schemas.openxmlformats.org/officeDocument/2006/relationships/notesSlide" Target="/ppt/notesSlides/notesSlide2.xml" Id="R7b1a64fce99f48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8938a45d14c08" /><Relationship Type="http://schemas.openxmlformats.org/officeDocument/2006/relationships/notesSlide" Target="/ppt/notesSlides/notesSlide3.xml" Id="R6727c82b6e7b42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de7799c314d07" /><Relationship Type="http://schemas.openxmlformats.org/officeDocument/2006/relationships/notesSlide" Target="/ppt/notesSlides/notesSlide4.xml" Id="Rd65efabe929f4e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32a9e1eec404a" /><Relationship Type="http://schemas.openxmlformats.org/officeDocument/2006/relationships/notesSlide" Target="/ppt/notesSlides/notesSlide5.xml" Id="R2cf9e1f9fc0b4c3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a654123884aec" /><Relationship Type="http://schemas.openxmlformats.org/officeDocument/2006/relationships/notesSlide" Target="/ppt/notesSlides/notesSlide6.xml" Id="Ree6d2aaee7f84a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2956e9b064859" /><Relationship Type="http://schemas.openxmlformats.org/officeDocument/2006/relationships/notesSlide" Target="/ppt/notesSlides/notesSlide7.xml" Id="R4b84890f92c146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db320157b4856" /><Relationship Type="http://schemas.openxmlformats.org/officeDocument/2006/relationships/notesSlide" Target="/ppt/notesSlides/notesSlide8.xml" Id="Re0073cb04dc649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9034f93d7744a6" /><Relationship Type="http://schemas.openxmlformats.org/officeDocument/2006/relationships/notesSlide" Target="/ppt/notesSlides/notesSlide9.xml" Id="Rbef9463ac73b430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5511FD-BF0C-4A88-8A41-C344ACFD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B2815-12F7-493A-84DC-A7159469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PROJECT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3AFBE6-02EE-4899-9535-27EC7322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66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Policy-as-Code for AI ISO Governance on AWS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6E552C-E4D6-4203-B270-3FA1D162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A practical demo showing how corporate AI policy becomes lifecycle gates, OPA/Rego checks, CI/CD enforcement, and audit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6A302-D4CE-4ACC-8428-CF7A0910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7"/>
                </a:solidFill>
                <a:latin typeface="Aptos"/>
                <a:ea typeface="Aptos"/>
                <a:cs typeface="Aptos"/>
              </a:rPr>
              <a:t>AWS AI Governance PaC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9844C8-E1EF-4E99-8FB6-8A60B0784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71650"/>
            <a:ext cx="111633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827"/>
          </a:solidFill>
          <a:ln xmlns:a="http://schemas.openxmlformats.org/drawingml/2006/main" w="9525">
            <a:solidFill>
              <a:srgbClr val="1E36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FDD64-F357-4325-8EC7-8ADAF8F3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6477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project proves that AI governance can be tested before deployment, not reviewed after release.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911DA9-BCB9-4A7D-9D41-77DC5810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9525">
            <a:solidFill>
              <a:srgbClr val="1E36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22693B-9BD6-480F-A3AB-63F28631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5150E-7004-41BF-9C82-BCB6F1A3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Policy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2CC32-F71D-42B3-A2BF-EBC16D4A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2819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Corporate and operational AI policies mapped to ISO/IEC 42001-style controls.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9141C-9431-4253-BFB2-F8CE59E6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4325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9525">
            <a:solidFill>
              <a:srgbClr val="1E36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C0836-A2B5-497D-86BA-90BB27DE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432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3CCDE-2649-46A6-BAEE-8BA37FED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956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Enforcement 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2FC5B-2005-4580-B757-B4A94160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19500"/>
            <a:ext cx="2819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OPA/Rego evaluates AWS-style evidence and returns allow/deny findings.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0F68E7-A013-46C6-972E-F954A900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9525">
            <a:solidFill>
              <a:srgbClr val="1E36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ABF399-C4D8-4259-91C9-92A71506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8E9354-3F37-43AB-9A5F-DDE4942E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956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Delivery Layer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3E89A0-A5B1-4792-905C-817FE9DB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19500"/>
            <a:ext cx="2819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GitHub Actions blocks non-compliant deployments and publishes evidence.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9CD1E9-80AA-43F6-A97A-1B6EB6CE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Core demo assets: mock-infra/*.json · policies/*.rego · scripts/*.mjs · .github/workflows · terraform/*.tf · web dashboard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374943-2A1E-4F8C-8242-EA89E200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DFF24E-CF0C-4715-9E35-DAF1DEDA4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39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39C"/>
                </a:solidFill>
                <a:latin typeface="Aptos"/>
                <a:ea typeface="Aptos"/>
                <a:cs typeface="Aptos"/>
              </a:rPr>
              <a:t>Source: repo policy model, Rego policy, Terraform lifecycle, GitHub Actions workflow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9E9E40-C2A7-4D0C-9D51-E51CECB1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39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839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809155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4F2B49-3155-4AFE-A280-6BECED66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01876-9569-4781-97AA-0DEBF014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WHY POLICY-AS-CODE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9A745-E491-43CA-B5D9-CBDFB7F9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66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AI governance needs executable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7E39D-F616-40B0-9A3B-8C3A2907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ISO AI governance policies become useful when they can block unsafe changes, explain violations, and produce repeatable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0408B-AACB-4F72-A87D-8491C071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7"/>
                </a:solidFill>
                <a:latin typeface="Aptos"/>
                <a:ea typeface="Aptos"/>
                <a:cs typeface="Aptos"/>
              </a:rPr>
              <a:t>AWS AI Governance PaC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ADC3C0-71C4-45EE-A566-9E7D30F0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714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A4EDD-1BF8-4C64-8D90-201CE6FB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Corporate 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077932-EAC3-4DAC-A82E-307B7FF8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1447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Responsible AI</a:t>
            </a:r>
          </a:p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Data Privacy</a:t>
            </a:r>
          </a:p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Transparency</a:t>
            </a:r>
          </a:p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AI Security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BA1B1C-522E-4F21-A0AD-F0C22591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861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0A1B2-E742-4F2B-9C8E-F3731C71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7180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B8046-2832-4D6E-A2B1-5C832A49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71750"/>
            <a:ext cx="1714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4E820-DD84-41A0-AA8D-FF0C857D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8605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Operational Controls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CA8A8B-FA56-4E80-9902-B8724B74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28950"/>
            <a:ext cx="1447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Encryption</a:t>
            </a:r>
          </a:p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Logging</a:t>
            </a:r>
          </a:p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Guardrails</a:t>
            </a:r>
          </a:p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Approvals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0BD51-26FE-4A26-B6C0-4BAD8C16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861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EBDD7C-C250-4B73-BD50-A9E7A71F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7180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0D3A1F-22BF-4A75-8DC0-72F553D84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71750"/>
            <a:ext cx="1714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9775ED-B6F5-491F-81F4-9ED27B68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8605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Lifecycle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0E0743-BD63-4299-A314-BC503ECF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28950"/>
            <a:ext cx="1447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Data collection</a:t>
            </a:r>
          </a:p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Model approval</a:t>
            </a:r>
          </a:p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Deployment</a:t>
            </a:r>
          </a:p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Monitoring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6CA6F7-5849-49B0-84F9-1DF9C5FE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861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856110-055B-4ED6-AA23-3DCB9A27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7180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0212C5-EB99-4730-B0F7-2EDB987B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71750"/>
            <a:ext cx="1714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1430">
            <a:solidFill>
              <a:srgbClr val="22C5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C3FB16-A341-43B7-85FF-0D9E428F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8605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OPA/Rego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36F7C-0F1C-4821-9101-CA53E27E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1447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deny findings</a:t>
            </a:r>
          </a:p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allow decision</a:t>
            </a:r>
          </a:p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remediation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C82D07-F7CC-46C0-99D9-7DDB9784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086100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15E3F7-D685-4825-8D74-959F0EB1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97180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7B8E83-8364-4F04-877B-FB92B819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2571750"/>
            <a:ext cx="9144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1430">
            <a:solidFill>
              <a:srgbClr val="FB4D5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4B7A05-DCE2-4CE6-B13F-8C962EBE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68605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CI/CD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2A6180-7586-456B-8F1F-753C0526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028950"/>
            <a:ext cx="647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PASS</a:t>
            </a:r>
          </a:p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or</a:t>
            </a:r>
          </a:p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FAIL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42AE73-837D-499A-9CB9-18B740E75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962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Value: the policy is reviewed once, versioned in Git, executed on every workflow run, and enforced before AWS AI workloads move forward.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D5F49E-6A0D-4BD7-A3D8-D9382C85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519E98-5823-4B10-9A91-3CB2A1D7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39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39C"/>
                </a:solidFill>
                <a:latin typeface="Aptos"/>
                <a:ea typeface="Aptos"/>
                <a:cs typeface="Aptos"/>
              </a:rPr>
              <a:t>Source: repo policy model, Rego policy, Terraform lifecycle, GitHub Actions workflow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252605-01CC-4677-9C1D-2D5950B9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39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839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7856292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090AF4-83C1-44EB-B3C9-DF88B8CB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9002A-001C-4DC9-A842-0C12EDF2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C7B91-B1CD-4977-B7B0-120E7167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66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One source model feeds dashboard, Terraform, and CI/CD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B7758-0E35-4B3C-9309-3FA085F6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The deck architecture separates policy model, enforcement policy, evidence inputs, and delivery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F49F7-AEEE-4498-8767-2CC58265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7"/>
                </a:solidFill>
                <a:latin typeface="Aptos"/>
                <a:ea typeface="Aptos"/>
                <a:cs typeface="Aptos"/>
              </a:rPr>
              <a:t>AWS AI Governance PaC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E0211-48AF-4F83-A009-0BD4AC1FA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4070C-AAF4-47DF-A66F-72B0F93E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Policy model 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88341-C068-4D35-9E96-1F72DA46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114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policies/ai-governance-policy-model.json</a:t>
            </a:r>
          </a:p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Corporate policies, operational policies, lifecycle stages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A248B-068D-43BD-B1DD-B5ADD3E1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9DEBC-C1BA-48AD-A2C1-FEC8C3FD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2114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Rego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A5BD1-7AB7-4051-AAA3-F1B9D000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2114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policies/ai-lifecycle-governance.rego</a:t>
            </a:r>
          </a:p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Executable allow/deny rules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912AC-EFDB-4262-9B24-2FEFEAD6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622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F58A2-5484-46F9-9B29-FCD3F72E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24790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CDCE5-15E3-4579-B2B4-364E990C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529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F4636-6146-4CCD-A225-DF4AFE93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4386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9E2B09-5E8D-4214-8BD7-11006C04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2571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1430">
            <a:solidFill>
              <a:srgbClr val="22C5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0B9E3B-DE33-46C6-9AA5-475B8FD1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28800"/>
            <a:ext cx="2305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F28B7-95D7-4DD3-AE0B-1E5651A0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71700"/>
            <a:ext cx="2305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web/src/App.tsx imports the shared model and displays selected Rego blocks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4FDF8-73AE-42FC-BB5A-BBDE5965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57625"/>
            <a:ext cx="2571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DF8BA0-3947-4F4A-B7D5-DDC0C50B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71925"/>
            <a:ext cx="2305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OPA scripts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8A31F9-6A77-4775-8852-656FDF68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14825"/>
            <a:ext cx="23050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pac-deployment-check.mjs executes OPA and writes evidence reports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085BA1-27FE-436C-B88A-B7407FF3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622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7809C9-1C1C-40B2-9620-F5E1BBD3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224790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55D84E-469D-461B-8F99-CBA6BAC4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529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BA24B5-BDFC-4825-AF1A-58EE2A37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4386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9EB5FC-35FF-413D-BB7F-EA5EB49C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01BC8D-A8D7-4969-ADB9-7F0B34C5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28800"/>
            <a:ext cx="2876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Terraform model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547DA6-DBF7-41A5-B19A-B8AFE02A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71700"/>
            <a:ext cx="2876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policy_framework.tf and pac_lifecycle.tf consume policy model for governance 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12ABC0-07DE-4D77-ADD6-F8240D12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57625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1430">
            <a:solidFill>
              <a:srgbClr val="FB4D5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14A260-0660-47B9-9AD4-BC79FA2C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71925"/>
            <a:ext cx="2876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GitHub Actions gate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0D3DCB-324B-4FE7-9AA1-70E449D7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14825"/>
            <a:ext cx="28765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ai-governance-gate.yml selects scenario, evaluates Rego, blocks deployment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C68B86-4CA6-4571-A266-2D01B23B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FA7EF4-1F2C-4919-BCC3-00FD4A01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39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39C"/>
                </a:solidFill>
                <a:latin typeface="Aptos"/>
                <a:ea typeface="Aptos"/>
                <a:cs typeface="Aptos"/>
              </a:rPr>
              <a:t>Source: repo policy model, Rego policy, Terraform lifecycle, GitHub Actions workflow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DD844E-7152-4684-8318-A476D568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39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839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745080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5BDB1E-C967-4D1F-AE8A-5B030A50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A5794-4300-4D08-BCDF-883C15B0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AI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268792-2EB4-45AC-9FF2-39DC44CE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66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Controls attach to stages, not just resources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526FB-E1AC-46A1-8CDE-4D8C010E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The lifecycle explains why each AWS evidence check matters and when it should be enforced.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1E82D-0EB3-4FD7-91C0-BE4216D2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7"/>
                </a:solidFill>
                <a:latin typeface="Aptos"/>
                <a:ea typeface="Aptos"/>
                <a:cs typeface="Aptos"/>
              </a:rPr>
              <a:t>AWS AI Governance PaC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D318A-4877-44B6-AB08-1317E208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9525">
            <a:solidFill>
              <a:srgbClr val="1E36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23682-3538-48FE-BB95-F725B8B0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661AB-B7B3-4115-9BD7-3FD96B9F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Data Collection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AA0EC-0BE5-4C9B-BF60-222C246C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2819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S3 · Glue · Lake Formation · KMS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Policy gates: DG-001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4114F-FFF2-4080-9954-5F98DD5A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9525">
            <a:solidFill>
              <a:srgbClr val="1E365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C0D941-DB13-4DB0-B281-FB78DE0C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09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4BEBB8-5AD7-4020-A00D-EED8E313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621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Model Training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1BFD7-9754-4922-9486-066BC490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86000"/>
            <a:ext cx="2819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SageMaker · ECR · CloudWatch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Policy gates: Tagging / artifacts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91CCAB-F9F1-4507-B35A-7F8F9882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9525">
            <a:solidFill>
              <a:srgbClr val="1E36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ED5534-0AAA-4BC8-9FFD-36FCFB35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23E711-5813-457F-BB39-BE17CB54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621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Model Approval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6E1EE-64C2-4594-B9FE-333B4D66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2819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Model Registry · IAM · SNS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Policy gates: GOV-001 · GOV-002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897464-82C2-458C-972A-CFC77796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9525">
            <a:solidFill>
              <a:srgbClr val="1E36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CE6C49-4265-4A54-BB81-16EFD570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4D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779F0C-8813-4C80-89CD-604F64BB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Deployment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ABABA8-22B8-449F-8D79-2C1E8245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2819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Bedrock · IAM · CloudWatch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Policy gates: TR-001 · RAI-001 · SEC-001 · GOV-003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81F560-92E0-4C61-A017-4A4D7FE5E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195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9525">
            <a:solidFill>
              <a:srgbClr val="1E365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E0810C-E463-4E56-A1E3-3D4E82C52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195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56313A-F220-468E-9572-6C0E5BEF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719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Monitoring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64224C-FDEB-428F-B388-48233737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95750"/>
            <a:ext cx="2819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Model Monitor · CloudTrail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Policy gates: Runtime evidence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F39921-653B-49F1-8904-7E8D20AE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3143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9525">
            <a:solidFill>
              <a:srgbClr val="1E365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6632F5-B628-49BA-9D8E-1B15D76F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195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22CF25-851C-4C50-98B0-5DF499374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719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Retirement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2648BE-5E09-4816-9F3A-FFCA247B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95750"/>
            <a:ext cx="2819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S3 · KMS · CloudTrail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Policy gates: Audit retention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A7A40B-0F1C-4CF1-890A-26CC41FC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619750"/>
            <a:ext cx="415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8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504B25-A35A-4E03-A48F-EE6B1FC7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695950"/>
            <a:ext cx="3924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2C55E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2C55E"/>
                </a:solidFill>
                <a:latin typeface="Aptos"/>
                <a:ea typeface="Aptos"/>
                <a:cs typeface="Aptos"/>
              </a:rPr>
              <a:t>Lifecycle source: policies/ai-governance-policy-model.json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3D3983-A1AB-4727-A9A4-A11B1384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7E2CE4-EBF4-4031-83A5-2D2E200E2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39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39C"/>
                </a:solidFill>
                <a:latin typeface="Aptos"/>
                <a:ea typeface="Aptos"/>
                <a:cs typeface="Aptos"/>
              </a:rPr>
              <a:t>Source: repo policy model, Rego policy, Terraform lifecycle, GitHub Actions workflow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3BDABA-936A-4271-B630-3921AE9B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39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839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645712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45FB73C-BBD1-40DE-A48A-377D478D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C39D99-9B31-4393-8781-E3FF5C5A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OPA / REGO ENFORCEMENT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42250A-C32A-4EBB-80AB-59B9C6F8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66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OPA turns AWS evidence into deterministic allow/deny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B842F-7866-4192-8DFE-28226524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The Rego policy is the enforcement source of truth used by local scripts, CI/CD, reports, and dashboard previews.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ADA8D-B667-46F5-A4E4-7A86EFEC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7"/>
                </a:solidFill>
                <a:latin typeface="Aptos"/>
                <a:ea typeface="Aptos"/>
                <a:cs typeface="Aptos"/>
              </a:rPr>
              <a:t>AWS AI Governance PaC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AEDA5-3C48-43D1-915C-4C12991F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3340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1E36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2B95A-4BC6-4471-87D0-D4E4EA97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762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2FE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7D2FE"/>
                </a:solidFill>
                <a:latin typeface="Aptos Mono"/>
                <a:ea typeface="Aptos Mono"/>
                <a:cs typeface="Aptos Mono"/>
              </a:rPr>
              <a:t>deny contains finding if {</a:t>
            </a:r>
          </a:p>
          <a:p xmlns:a="http://schemas.openxmlformats.org/drawingml/2006/main">
            <a:pPr algn="l">
              <a:defRPr sz="1275" b="0">
                <a:solidFill>
                  <a:srgbClr val="C7D2FE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7D2FE"/>
                </a:solidFill>
                <a:latin typeface="Aptos Mono"/>
                <a:ea typeface="Aptos Mono"/>
                <a:cs typeface="Aptos Mono"/>
              </a:rPr>
              <a:t>  bucket := input.s3_buckets[_]</a:t>
            </a:r>
          </a:p>
          <a:p xmlns:a="http://schemas.openxmlformats.org/drawingml/2006/main">
            <a:pPr algn="l">
              <a:defRPr sz="1275" b="0">
                <a:solidFill>
                  <a:srgbClr val="C7D2FE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7D2FE"/>
                </a:solidFill>
                <a:latin typeface="Aptos Mono"/>
                <a:ea typeface="Aptos Mono"/>
                <a:cs typeface="Aptos Mono"/>
              </a:rPr>
              <a:t>  bucket.kms_key_type != "CUSTOMER_MANAGED"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C7D2FE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7D2FE"/>
                </a:solidFill>
                <a:latin typeface="Aptos Mono"/>
                <a:ea typeface="Aptos Mono"/>
                <a:cs typeface="Aptos Mono"/>
              </a:rPr>
              <a:t>  finding := {</a:t>
            </a:r>
          </a:p>
          <a:p xmlns:a="http://schemas.openxmlformats.org/drawingml/2006/main">
            <a:pPr algn="l">
              <a:defRPr sz="1275" b="0">
                <a:solidFill>
                  <a:srgbClr val="C7D2FE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7D2FE"/>
                </a:solidFill>
                <a:latin typeface="Aptos Mono"/>
                <a:ea typeface="Aptos Mono"/>
                <a:cs typeface="Aptos Mono"/>
              </a:rPr>
              <a:t>    "id": "DG-001",</a:t>
            </a:r>
          </a:p>
          <a:p xmlns:a="http://schemas.openxmlformats.org/drawingml/2006/main">
            <a:pPr algn="l">
              <a:defRPr sz="1275" b="0">
                <a:solidFill>
                  <a:srgbClr val="C7D2FE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7D2FE"/>
                </a:solidFill>
                <a:latin typeface="Aptos Mono"/>
                <a:ea typeface="Aptos Mono"/>
                <a:cs typeface="Aptos Mono"/>
              </a:rPr>
              <a:t>    "title": "S3 buckets must use customer-managed KMS keys",</a:t>
            </a:r>
          </a:p>
          <a:p xmlns:a="http://schemas.openxmlformats.org/drawingml/2006/main">
            <a:pPr algn="l">
              <a:defRPr sz="1275" b="0">
                <a:solidFill>
                  <a:srgbClr val="C7D2FE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7D2FE"/>
                </a:solidFill>
                <a:latin typeface="Aptos Mono"/>
                <a:ea typeface="Aptos Mono"/>
                <a:cs typeface="Aptos Mono"/>
              </a:rPr>
              <a:t>    "severity": "critical"</a:t>
            </a:r>
          </a:p>
          <a:p xmlns:a="http://schemas.openxmlformats.org/drawingml/2006/main">
            <a:pPr algn="l">
              <a:defRPr sz="1275" b="0">
                <a:solidFill>
                  <a:srgbClr val="C7D2FE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7D2FE"/>
                </a:solidFill>
                <a:latin typeface="Aptos Mono"/>
                <a:ea typeface="Aptos Mono"/>
                <a:cs typeface="Aptos Mono"/>
              </a:rPr>
              <a:t>  }</a:t>
            </a:r>
          </a:p>
          <a:p xmlns:a="http://schemas.openxmlformats.org/drawingml/2006/main">
            <a:pPr algn="l">
              <a:defRPr sz="1275" b="0">
                <a:solidFill>
                  <a:srgbClr val="C7D2FE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C7D2FE"/>
                </a:solidFill>
                <a:latin typeface="Aptos Mono"/>
                <a:ea typeface="Aptos Mono"/>
                <a:cs typeface="Apto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9EF83-7D60-4659-9418-614344AD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4191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9525">
            <a:solidFill>
              <a:srgbClr val="1E36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A475A-667A-410F-9ABA-B3C44EAD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93D14C-B674-421D-AB26-404611EE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81200"/>
            <a:ext cx="384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D6A67-8DD7-4AC6-B552-A741E396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05050"/>
            <a:ext cx="386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mock-infra/failed-example.json or passed-example.json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A71B4C-3F01-45B4-AE08-1F4F972D7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4191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9525">
            <a:solidFill>
              <a:srgbClr val="1E36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B486F-1594-4077-AE17-DDA7597F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893276-E88F-4E94-B1BD-697FE675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67050"/>
            <a:ext cx="384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Query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3E7E4-9A21-4AC3-A9BD-47F9C905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90900"/>
            <a:ext cx="386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data.ai.lifecycle.governance.deny or allow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B30DA0-AA87-4770-98F5-E1AB6A24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191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9525">
            <a:solidFill>
              <a:srgbClr val="1E365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01F557-F61C-4A40-ADE0-7D812020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005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77F815-4754-4060-AD38-597CBD7A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52900"/>
            <a:ext cx="3848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F162D-C196-4455-B8E9-854EB925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476750"/>
            <a:ext cx="3867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Findings with id, ISO control, resource, reason, and remediation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0968A4-B456-4608-AE1A-65B4DD49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790FAA-D286-467E-89A3-DF301F73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39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39C"/>
                </a:solidFill>
                <a:latin typeface="Aptos"/>
                <a:ea typeface="Aptos"/>
                <a:cs typeface="Aptos"/>
              </a:rPr>
              <a:t>Source: repo policy model, Rego policy, Terraform lifecycle, GitHub Actions workflow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8945E9-B0B6-491F-92F7-DFBF6F31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39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839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66796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A0A7ED-5571-4808-84F2-D5D47754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83AA8-FC07-424C-8C0E-1ECAB66E9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CI/CD DEPLOYMENT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47001-F793-436D-8FC6-84F70EE3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66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GitHub Actions makes policy failure a deployment blocker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7C915-81A9-4231-8CAD-F32A036D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The workflow evaluates selected evidence, runs control checks, executes the gate script, and uploads reports as artifacts.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77919-A923-4C3F-A608-4B4E6189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7"/>
                </a:solidFill>
                <a:latin typeface="Aptos"/>
                <a:ea typeface="Aptos"/>
                <a:cs typeface="Aptos"/>
              </a:rPr>
              <a:t>AWS AI Governance PaC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DB4BC2-DDC2-4556-AA55-B021F6A4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88BF27-CA68-4A0B-853D-F4B0A1C5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Run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8F5F2-3BC9-4868-ADD5-8402542C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352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Choose passed-example or failed-example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08669-703B-4773-BFA5-53C96D0D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003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2EE77-E41A-4993-B622-B0F129CD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860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40C88-0D75-46CF-94E3-9B53305E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86000"/>
            <a:ext cx="1619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1430">
            <a:solidFill>
              <a:srgbClr val="38BDF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2067CE-57F3-4015-BFE0-EEDDED9B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0030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Setup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52040A-6CB1-436D-B3AB-D451D2BD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43200"/>
            <a:ext cx="1352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Node.js</a:t>
            </a:r>
          </a:p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Terraform</a:t>
            </a:r>
          </a:p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OPA CLI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75A95-E8E8-4EA0-95F0-56C3B5CA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003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B66BAB-C117-45DF-AE99-4B56C845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860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92527-6036-43D2-AC66-B1D18E43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28600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1430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69D544-A73D-4D82-9401-86D2ED7C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400300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Evaluate OPA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FCF393-3985-4E2A-8ECB-50DAD0F3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43200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Findings per control</a:t>
            </a:r>
          </a:p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7 active gates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977B8A-FB17-460A-951A-025DB1AF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0035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C4F2B1-E982-4F81-9526-C166EF27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860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823B25-8583-46A1-B39A-55309DB4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86000"/>
            <a:ext cx="1809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1430">
            <a:solidFill>
              <a:srgbClr val="22C55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CB45AE-2D07-4F91-ABA2-A4CCD81E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Gate script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B25F8A-E384-4C39-8AF6-DB77C896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43200"/>
            <a:ext cx="1543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pac-deployment-check.mjs</a:t>
            </a:r>
          </a:p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exit 0 or 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6F7294-8816-4763-804E-E76443C8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00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BA8E95-2310-4915-B6FA-EA26E8CA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86050"/>
            <a:ext cx="26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8C77DA-A6C3-44AA-BC18-E866B2AF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286000"/>
            <a:ext cx="9144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238"/>
          </a:solidFill>
          <a:ln xmlns:a="http://schemas.openxmlformats.org/drawingml/2006/main" w="11430">
            <a:solidFill>
              <a:srgbClr val="FB4D5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EF019D-E4B2-45F1-8BB6-14A21A1E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400300"/>
            <a:ext cx="647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099E1C-9753-4F43-B722-CF9E77FC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2743200"/>
            <a:ext cx="647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PASS</a:t>
            </a:r>
          </a:p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or</a:t>
            </a:r>
          </a:p>
          <a:p xmlns:a="http://schemas.openxmlformats.org/drawingml/2006/main">
            <a:pPr algn="l">
              <a:defRPr sz="81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FAIL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3BE2AA-494C-4D84-A983-095AA8BA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9791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D"/>
          </a:solidFill>
          <a:ln xmlns:a="http://schemas.openxmlformats.org/drawingml/2006/main" w="9525">
            <a:solidFill>
              <a:srgbClr val="29415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FCAE42-C4A9-49A4-8473-FEB89D63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8630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Negative control self-test passes only when failed-example.json is correctly blocked.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8F2366-1195-4601-AB8C-F7E6378C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9BCC6E-8A88-4AD9-B44B-5207B5BD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39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39C"/>
                </a:solidFill>
                <a:latin typeface="Aptos"/>
                <a:ea typeface="Aptos"/>
                <a:cs typeface="Aptos"/>
              </a:rPr>
              <a:t>Source: repo policy model, Rego policy, Terraform lifecycle, GitHub Actions workflow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14B472-E519-4192-8147-F220CEE8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39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839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6429247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CB41FD-E294-48A7-9E74-6AF6FEA6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B0DB5-FA79-431F-86A4-E44E92B9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TERRAFORM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7672A-A0A6-4B5B-BAFC-73999ED2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66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Terraform models the governance program; OPA enforces deployment decisions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5A028-F963-41AB-A1F1-076118FD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The current Terraform layer is a governance model and evidence scaffold using null_resources, not a full AWS account scanner.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69968-A506-4F07-B8FF-A28B622F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7"/>
                </a:solidFill>
                <a:latin typeface="Aptos"/>
                <a:ea typeface="Aptos"/>
                <a:cs typeface="Aptos"/>
              </a:rPr>
              <a:t>AWS AI Governance PaC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CE0D9-B0D8-4ABD-8821-CDDE6D07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143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9525">
            <a:solidFill>
              <a:srgbClr val="1E36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23D5E-C6C0-4652-BB8B-F538B82A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7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B28E9-D7AF-4FCF-895B-73316A0E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Corporate policy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0ABBD-EF3E-435D-BD80-4F251068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8194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policy_framework.tf reads ai-governance-policy-model.json and creates corporate policy resources.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ABF81-3900-4358-A60C-8A375074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3143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9525">
            <a:solidFill>
              <a:srgbClr val="1E365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46998-B32F-4587-A61B-531F593B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47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0A4DA8-114E-4DE0-9DFE-FA824B1C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621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Operational control 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2D4236-7329-4CFD-B056-426F0409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86000"/>
            <a:ext cx="28194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Operational policies define what engineers must prove at each lifecycle stage.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0F68D-EB24-41F3-AEF5-FC8CCA76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432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9525">
            <a:solidFill>
              <a:srgbClr val="1E36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30E1D-A98E-46D4-A99B-BB3FDE30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47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E969E5-6206-448C-8F1E-6791BA35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6215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Lifecycle PaC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8D8393-8B4A-45F9-874B-666D40EC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86000"/>
            <a:ext cx="28194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pac_lifecycle.tf evaluates mock AWS posture and exposes compliance outputs.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B420A8-D2AB-4D47-BD86-B2775400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Terraform output provides governance evidence; GitHub Actions + OPA provide enforcement.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A7A110-377B-4263-B124-819F7DEDD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76750"/>
            <a:ext cx="8667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Production extension path: replace mock JSON with AWS Config / Security Hub / Bedrock / IAM evidence, then connect Terraform modules for real guardrail deployment.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18353E-A0AB-48D5-B271-0531398B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39E4C4-2636-4BA4-B20F-357EB40B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39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39C"/>
                </a:solidFill>
                <a:latin typeface="Aptos"/>
                <a:ea typeface="Aptos"/>
                <a:cs typeface="Aptos"/>
              </a:rPr>
              <a:t>Source: repo policy model, Rego policy, Terraform lifecycle, GitHub Actions workflow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F2943E-1B2D-4383-B0CA-BC29A1DD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39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839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076929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BC9A7D-8075-40E9-9F90-19C74DD5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0B3D6-00BE-49C9-BE17-84D76E6F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EVIDENCE AND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0EAA8-D7BF-4267-9993-2C20EA63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66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The project produces explainable compliance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E9CFF-8435-4537-9242-1C25177A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A useful PaC control should not only fail; it should explain what failed, where, why, and how to fix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7E4A7-1934-4AC0-8EC9-28A9CFE5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7"/>
                </a:solidFill>
                <a:latin typeface="Aptos"/>
                <a:ea typeface="Aptos"/>
                <a:cs typeface="Aptos"/>
              </a:rPr>
              <a:t>AWS AI Governance PaC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60CB9-AEA8-4B49-93C3-11786C09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32575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9525">
            <a:solidFill>
              <a:srgbClr val="1E36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EABE07-77D4-47C7-9568-F37D8348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563E49-DDAF-4778-94F9-A35D1F33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E611EE-7D1B-47D2-9597-C7623EC26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2933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reports/pac-deployment-check.md</a:t>
            </a:r>
          </a:p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reports/pac-deployment-check.json</a:t>
            </a:r>
          </a:p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Compliance score, violations, remediation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A92E2D-301B-4460-BAEC-16977760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32575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9525">
            <a:solidFill>
              <a:srgbClr val="1E365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712E3-5978-493E-A14A-F92850B11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5EB8A2-6FAD-4A83-9517-FD3BC69D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050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32B22-7189-4165-97EC-6F4D648F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2933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Policy status, lifecycle stages, selected Rego from real policy file, evaluated mock infrastructure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A58B9A-180E-438D-AF30-9DEE814C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32575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9525">
            <a:solidFill>
              <a:srgbClr val="1E36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3051BB-0DA6-4C61-9386-AB995D9C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526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AF7109-B82B-4AFA-AD0E-3E5B86FE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050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0652BF-E90E-4018-BD2A-6FDEEE44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28850"/>
            <a:ext cx="2933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GitHub Actions uploads compliance evidence for reviewers and auditors.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38EF1D-8047-4A1A-B92C-428ECAEC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9906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01D"/>
          </a:solidFill>
          <a:ln xmlns:a="http://schemas.openxmlformats.org/drawingml/2006/main" w="9525">
            <a:solidFill>
              <a:srgbClr val="1E36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93D4F-E785-43F0-9C2A-DBBC81E9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814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BEAFE"/>
                </a:solidFill>
                <a:latin typeface="Aptos"/>
                <a:ea typeface="Aptos"/>
                <a:cs typeface="Aptos"/>
              </a:rPr>
              <a:t>Example finding: GOV-003 · Production approval is required · Approval Evidence · AI Governance Demo · Capture approver and change ticket before release.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5DCD56-9313-4A89-856F-BA35CC15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357FB9-E32A-468E-9972-ABDAF347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39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39C"/>
                </a:solidFill>
                <a:latin typeface="Aptos"/>
                <a:ea typeface="Aptos"/>
                <a:cs typeface="Aptos"/>
              </a:rPr>
              <a:t>Source: repo policy model, Rego policy, Terraform lifecycle, GitHub Actions workflow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85FB84-09A2-472C-88F7-AA0D0191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39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839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022545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775854-E3E2-4C17-9FDA-968E6E5C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0086E-672D-4D42-AF01-EEAD96E1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8BDF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8BDF8"/>
                </a:solidFill>
                <a:latin typeface="Aptos"/>
                <a:ea typeface="Aptos"/>
                <a:cs typeface="Aptos"/>
              </a:rPr>
              <a:t>TAKEAWAYS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46EEF-E36B-45F2-A2A6-3A30BB79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8667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What this project demonstrates and where it goes 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25A50-8F9E-4501-B08A-CD6EA1E0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The current implementation is a strong demo foundation for AI governance PaC; productionizing means feeding it live AWS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9CB11-EFC2-4F09-B093-F7DF09D4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3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FB0C7"/>
                </a:solidFill>
                <a:latin typeface="Aptos"/>
                <a:ea typeface="Aptos"/>
                <a:cs typeface="Aptos"/>
              </a:rPr>
              <a:t>AWS AI Governance PaC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8CD025-7269-45B8-803E-EB633FAA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9525">
            <a:solidFill>
              <a:srgbClr val="1E36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0FDC2A-7E00-48BC-A069-CF4C082B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5E533-9A41-4B0B-8293-0E808E79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669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Demonstrated 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BA3B6-AA95-4FA9-AB7A-54F33263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2819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Policy model, AI lifecycle, OPA/Rego gates, CI/CD blocking, Terraform governance outputs, dashboard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E218AE-A653-4FCA-A307-85F1A7C5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9525">
            <a:solidFill>
              <a:srgbClr val="1E365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CFF8E-A9B5-41E5-A3AD-7A74581B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3F127-B571-40CD-AC47-600E4B6F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8669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764E1E-7A4A-4A74-A322-8505569D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90750"/>
            <a:ext cx="2819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AI governance moves from manual review to versioned, repeatable, explainable deployment control.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57C7E-14D5-4537-B0AB-3EACC4E0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B2D"/>
          </a:solidFill>
          <a:ln xmlns:a="http://schemas.openxmlformats.org/drawingml/2006/main" w="9525">
            <a:solidFill>
              <a:srgbClr val="1E365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0A4C78-3935-4E25-B092-ED6F3F86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37838B-83F6-461D-8E48-B6E09DF9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66900"/>
            <a:ext cx="2800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Next maturity step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86CB1D-0520-4652-9E14-845D606E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90750"/>
            <a:ext cx="2819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9FB0C7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9FB0C7"/>
                </a:solidFill>
                <a:latin typeface="Aptos"/>
                <a:ea typeface="Aptos"/>
                <a:cs typeface="Aptos"/>
              </a:rPr>
              <a:t>Integrate live AWS Config, Security Hub, IAM Access Analyzer, Bedrock, and SageMaker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757AAF-6EA0-456C-BED0-6028064A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91000"/>
            <a:ext cx="9906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Positioning: an AI governance Policy-as-Code framework for AWS AI lifecycle controls aligned to ISO/IEC 42001-style management practices.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D06FDC-AFCA-4126-9960-9142548F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1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E9E5C0-2DF9-4BD8-98A8-1D7A6DE0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39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1839C"/>
                </a:solidFill>
                <a:latin typeface="Aptos"/>
                <a:ea typeface="Aptos"/>
                <a:cs typeface="Aptos"/>
              </a:rPr>
              <a:t>Source: repo policy model, Rego policy, Terraform lifecycle, GitHub Actions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C7CF26-6037-4094-8036-6BA63AE7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3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1839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1839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65394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2026-06-08T15:37:09.7120000Z</dcterms:created>
  <dcterms:modified xsi:type="dcterms:W3CDTF">2026-06-08T15:37:09.7120000Z</dcterms:modified>
</coreProperties>
</file>